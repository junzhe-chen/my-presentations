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5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unzhe Chen" initials="JC" lastIdx="3" clrIdx="0">
    <p:extLst>
      <p:ext uri="{19B8F6BF-5375-455C-9EA6-DF929625EA0E}">
        <p15:presenceInfo xmlns:p15="http://schemas.microsoft.com/office/powerpoint/2012/main" userId="S::gm25424@bristol.ac.uk::d8736036-6b40-49a9-8d12-110451a661d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8"/>
    <p:restoredTop sz="94658"/>
  </p:normalViewPr>
  <p:slideViewPr>
    <p:cSldViewPr snapToGrid="0">
      <p:cViewPr>
        <p:scale>
          <a:sx n="95" d="100"/>
          <a:sy n="95" d="100"/>
        </p:scale>
        <p:origin x="200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553EE-62E5-D041-FC84-5E05AC9CEB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13535-6590-C249-79DB-E9FCB461F8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168DD-4B08-CB36-215C-9C678A3D7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EEE0CC-299C-11A5-8073-68E6F7EF4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4799-B158-DE1B-782B-D28CF89B5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61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D7FC4-F993-CC13-3DA9-D1D38F7D5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D9DD9-DB2A-A74E-1CC7-E72096764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41B7-9450-554F-2858-2046ED28E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0B7BD-778D-9DE0-15A2-1E46921F0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0B315-B6C7-22BE-A6BE-DB5C8F44B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528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70777-F2C3-40A6-F83A-03F762743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9EE8D-39CF-AC11-F4DF-033A50E076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D2F88-FF72-7CD7-35A7-E11EB8CCC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282A9-B780-E8B4-D548-1F60CF6D1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40E35-A29F-23F4-A674-EEB972DC4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703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9CD8C-F844-395A-CCA7-4E26FBB4F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F34DE-1769-9D71-4FB2-3A0206A2A1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9BD6BF-52A4-FDD2-92D3-9CB9FBCF3B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357E45-E326-C6A3-E706-5E6B31A8F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1AD564-D595-83F0-FDF3-2D781259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56DD17-CF8A-6D65-F7CB-746241CA1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350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5E5A-B866-FD99-19EB-278378D64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E06988-A2A2-9EB5-5DDC-2E9BF143F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F53A6-86A3-C5F5-5AEA-E8181504DC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586D2D-6DC5-0CD7-4CD2-7D554255F2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55C602-FDE7-A55C-0071-D95878D683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7F928D-8131-5B6C-1690-7F3F3A65B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E42FCD-4648-63EF-0873-41FCF6236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30B9AA-75FE-A023-2E8D-4E11B5112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74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ED389-F6ED-9767-8A76-B21820861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14538C-6E98-359C-8A47-B26C0E243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BB75A0-C9D6-494B-0A29-CC5EBC9F9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C60915-7E07-EAAD-5569-F51243FB9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097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99F89A-D762-2BEF-A091-86EBADFCF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F93F0C-8A40-6059-69D6-9D94EB8AD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BA7899-1F4D-6C61-6231-3CD4FC6DB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128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66C99-10C4-E6C8-7A88-CBED59F9D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91587-FA17-C1CA-8C9E-5527504A4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631A31-A231-7B19-D399-B3BA06D45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7D5821-856B-73DA-135B-C6AAC84D2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27F8AB-545C-80D2-497C-B68E32F6D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8CA7C9-BD0F-CE49-79DA-A1EB9D039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236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785B3-6229-164D-E6BC-0C3B64F2D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3D4A9F-81DE-491A-7FC0-E6BD2CEBED5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A3910B-FF0A-605B-EF36-43137C4EFD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457D-7F35-FAFB-AFF4-CCCC93573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04D892-2D56-C379-DB13-171C838A1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5AAF6C-AC0D-0041-7BCB-18D8E1229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40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054CA-07D8-0598-87AC-78FF67E7C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BCE6B0-A5AE-35DD-0327-1BBB2B45E2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5BEC6-BD2E-2BF6-7A90-C3F37303A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2A1CF7-CEB9-911C-F582-D7432C9E1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B77B9-F4D0-B82F-37D6-C661D17FA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51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93F14E-8E25-A516-E11D-48D1EF8476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68504D-8DF9-92B4-47B7-13CAD57EEA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997E80-E941-3FE8-3810-6DA9F7CB2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CF595-D6CD-932C-5036-0B7105D6E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28CAF-91CC-C868-39DF-4D7C39D2B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486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7733C1-3237-1097-484E-5B60D794A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88328E-BBCD-80CF-23FE-454F2B5B6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DF51C-D3A2-FB19-17F9-BCEE97171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D22DBB-AD4E-9D41-B34E-B01A77E5F8A0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FBB58-57FC-FC5A-BF2A-DD5163B71C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2EDF4-B041-F831-8A49-163AEAABAD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062374-7D33-8348-959A-AADEBF840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564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3F5DB-088F-8C88-EE1C-394E45DCB0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253110"/>
            <a:ext cx="12192000" cy="2606196"/>
          </a:xfrm>
        </p:spPr>
        <p:txBody>
          <a:bodyPr>
            <a:noAutofit/>
          </a:bodyPr>
          <a:lstStyle/>
          <a:p>
            <a:r>
              <a:rPr lang="en-US" sz="3600" dirty="0">
                <a:latin typeface="Helvetica" pitchFamily="2" charset="0"/>
              </a:rPr>
              <a:t>A Clock-Independent, Time-Domain </a:t>
            </a:r>
            <a:br>
              <a:rPr lang="en-US" sz="3600" dirty="0">
                <a:latin typeface="Helvetica" pitchFamily="2" charset="0"/>
              </a:rPr>
            </a:br>
            <a:r>
              <a:rPr lang="en-US" sz="3600" dirty="0">
                <a:latin typeface="Helvetica" pitchFamily="2" charset="0"/>
              </a:rPr>
              <a:t>Rapid Calibration Method </a:t>
            </a:r>
            <a:br>
              <a:rPr lang="en-US" sz="3600" dirty="0">
                <a:latin typeface="Helvetica" pitchFamily="2" charset="0"/>
              </a:rPr>
            </a:br>
            <a:r>
              <a:rPr lang="en-US" sz="3600" dirty="0">
                <a:latin typeface="Helvetica" pitchFamily="2" charset="0"/>
              </a:rPr>
              <a:t>for </a:t>
            </a:r>
            <a:br>
              <a:rPr lang="en-US" sz="3600" dirty="0">
                <a:latin typeface="Helvetica" pitchFamily="2" charset="0"/>
              </a:rPr>
            </a:br>
            <a:r>
              <a:rPr lang="en-US" sz="3600" dirty="0">
                <a:latin typeface="Helvetica" pitchFamily="2" charset="0"/>
              </a:rPr>
              <a:t>Memristor-based </a:t>
            </a:r>
            <a:br>
              <a:rPr lang="en-US" sz="3600" dirty="0">
                <a:latin typeface="Helvetica" pitchFamily="2" charset="0"/>
              </a:rPr>
            </a:br>
            <a:r>
              <a:rPr lang="en-US" sz="3600" dirty="0">
                <a:latin typeface="Helvetica" pitchFamily="2" charset="0"/>
              </a:rPr>
              <a:t>Analog Computing AI Processors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86F2A-F795-94B5-2791-FF04CB5BC5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954232"/>
            <a:ext cx="9144000" cy="827881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Helvetica" pitchFamily="2" charset="0"/>
              </a:rPr>
              <a:t>Chen, Junzhe (JC)</a:t>
            </a:r>
          </a:p>
          <a:p>
            <a:r>
              <a:rPr lang="en-US" dirty="0">
                <a:latin typeface="Helvetica" pitchFamily="2" charset="0"/>
              </a:rPr>
              <a:t>20/Oct/2026, Bristol, UK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BDAD9B-DC57-967C-32B3-35DAB77C5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273" y="4617116"/>
            <a:ext cx="1744627" cy="1751057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C3A4852F-6237-6B3E-A637-800CD9004D6B}"/>
              </a:ext>
            </a:extLst>
          </p:cNvPr>
          <p:cNvSpPr txBox="1">
            <a:spLocks/>
          </p:cNvSpPr>
          <p:nvPr/>
        </p:nvSpPr>
        <p:spPr>
          <a:xfrm>
            <a:off x="10120222" y="6368173"/>
            <a:ext cx="1962727" cy="8278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Helvetica" pitchFamily="2" charset="0"/>
              </a:rPr>
              <a:t>Full paper</a:t>
            </a:r>
          </a:p>
        </p:txBody>
      </p:sp>
    </p:spTree>
    <p:extLst>
      <p:ext uri="{BB962C8B-B14F-4D97-AF65-F5344CB8AC3E}">
        <p14:creationId xmlns:p14="http://schemas.microsoft.com/office/powerpoint/2010/main" val="17879610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CA749-2B61-EA6F-0DE7-63F0B96F4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System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FC2B42-7D68-D946-6E17-F33D3D98F023}"/>
              </a:ext>
            </a:extLst>
          </p:cNvPr>
          <p:cNvSpPr txBox="1"/>
          <p:nvPr/>
        </p:nvSpPr>
        <p:spPr>
          <a:xfrm>
            <a:off x="1618917" y="5882062"/>
            <a:ext cx="97348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" pitchFamily="2" charset="0"/>
              </a:rPr>
              <a:t>Make memristor function </a:t>
            </a:r>
            <a:r>
              <a:rPr lang="en-US" sz="2800" b="1" dirty="0">
                <a:latin typeface="Helvetica" pitchFamily="2" charset="0"/>
              </a:rPr>
              <a:t>longer </a:t>
            </a:r>
            <a:r>
              <a:rPr lang="en-US" sz="2800" dirty="0">
                <a:latin typeface="Helvetica" pitchFamily="2" charset="0"/>
              </a:rPr>
              <a:t>&amp;</a:t>
            </a:r>
            <a:r>
              <a:rPr lang="en-US" sz="2800" b="1" dirty="0">
                <a:latin typeface="Helvetica" pitchFamily="2" charset="0"/>
              </a:rPr>
              <a:t> more robust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6988A2B-8CCA-A572-B279-BBD2CC0211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500" r="1811"/>
          <a:stretch>
            <a:fillRect/>
          </a:stretch>
        </p:blipFill>
        <p:spPr>
          <a:xfrm>
            <a:off x="1308847" y="1445953"/>
            <a:ext cx="9574305" cy="396609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CDEE754-EEA1-F22F-7B4E-F2AA0EB9178D}"/>
              </a:ext>
            </a:extLst>
          </p:cNvPr>
          <p:cNvSpPr/>
          <p:nvPr/>
        </p:nvSpPr>
        <p:spPr>
          <a:xfrm>
            <a:off x="838199" y="2005666"/>
            <a:ext cx="701317" cy="4975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62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67BC5-4D4A-812C-3C98-888B55DAA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7AAE2-05CA-B787-4FDC-A58A154AB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Miyahara [1]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B9AB554-97FD-981E-4A81-8FDC25FB0E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229" y="1796359"/>
            <a:ext cx="5903953" cy="39632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C9BDBB-4DB8-672C-24B7-37066436C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0801" y="2057403"/>
            <a:ext cx="6075478" cy="3621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061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2FEB-5FCB-CBED-1E32-90CA49754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05D60-7D43-0229-5C21-41B872DA7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Accuracy bottleneck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AD1C3DC-465F-BA10-21BB-5A7AC50D42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12" y="2078597"/>
            <a:ext cx="12152176" cy="3254189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839043B-11A3-8C3A-4B41-E4805D975001}"/>
              </a:ext>
            </a:extLst>
          </p:cNvPr>
          <p:cNvCxnSpPr/>
          <p:nvPr/>
        </p:nvCxnSpPr>
        <p:spPr>
          <a:xfrm>
            <a:off x="2488019" y="2615609"/>
            <a:ext cx="0" cy="116958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A5DFC9A-D470-541E-D0A4-F9857BD794D1}"/>
              </a:ext>
            </a:extLst>
          </p:cNvPr>
          <p:cNvSpPr txBox="1"/>
          <p:nvPr/>
        </p:nvSpPr>
        <p:spPr>
          <a:xfrm>
            <a:off x="1397245" y="5107033"/>
            <a:ext cx="27969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" pitchFamily="2" charset="0"/>
              </a:rPr>
              <a:t>Accuracy limited by </a:t>
            </a:r>
            <a:r>
              <a:rPr lang="en-US" sz="2800" b="1" dirty="0">
                <a:latin typeface="Helvetica" pitchFamily="2" charset="0"/>
              </a:rPr>
              <a:t>CLK period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B79FAF-27BE-3308-7310-F966BD5C856C}"/>
              </a:ext>
            </a:extLst>
          </p:cNvPr>
          <p:cNvCxnSpPr/>
          <p:nvPr/>
        </p:nvCxnSpPr>
        <p:spPr>
          <a:xfrm>
            <a:off x="9139423" y="2615609"/>
            <a:ext cx="0" cy="116958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62522D6-FBD6-6221-328C-E0577E8AA807}"/>
              </a:ext>
            </a:extLst>
          </p:cNvPr>
          <p:cNvSpPr txBox="1"/>
          <p:nvPr/>
        </p:nvSpPr>
        <p:spPr>
          <a:xfrm>
            <a:off x="7997782" y="5107033"/>
            <a:ext cx="25011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" pitchFamily="2" charset="0"/>
              </a:rPr>
              <a:t>Pulse</a:t>
            </a:r>
            <a:r>
              <a:rPr lang="en-US" sz="2800" dirty="0">
                <a:latin typeface="Helvetica" pitchFamily="2" charset="0"/>
              </a:rPr>
              <a:t> instead of CLK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34A4A9-29E7-CB23-5AC8-F2E3EB57AC78}"/>
              </a:ext>
            </a:extLst>
          </p:cNvPr>
          <p:cNvSpPr/>
          <p:nvPr/>
        </p:nvSpPr>
        <p:spPr>
          <a:xfrm>
            <a:off x="228600" y="4881282"/>
            <a:ext cx="820271" cy="4515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7996061-53FD-40EE-3ACB-0306AE915BA3}"/>
              </a:ext>
            </a:extLst>
          </p:cNvPr>
          <p:cNvSpPr/>
          <p:nvPr/>
        </p:nvSpPr>
        <p:spPr>
          <a:xfrm>
            <a:off x="6096000" y="4881282"/>
            <a:ext cx="820271" cy="4515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438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CF71-4A0A-0D52-42A8-17BA4A562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9BDE9-C4F8-A147-168E-73925D664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Proposed method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A86FDF0-0742-8C60-8F01-73A8EDC1B1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2415" y="1452282"/>
            <a:ext cx="7407169" cy="5040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655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9DACC-CECC-DD6A-C246-03EC29F13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C1A36-95DB-7C39-DFEF-E59C9A1F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Calibration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3178E27-5471-AF5D-015F-EA051DE45B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0977" y="1825625"/>
            <a:ext cx="947004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049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D9E56-7B27-7C48-60F2-8172408A7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6DA0B-2642-1407-E104-A4963B6BF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Pulse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791CAFF-E55C-067A-782A-C9B8043FF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63264"/>
            <a:ext cx="10515600" cy="346923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727D9F-A096-9640-747C-3F0034121047}"/>
              </a:ext>
            </a:extLst>
          </p:cNvPr>
          <p:cNvSpPr txBox="1"/>
          <p:nvPr/>
        </p:nvSpPr>
        <p:spPr>
          <a:xfrm>
            <a:off x="1032205" y="5538768"/>
            <a:ext cx="35801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" pitchFamily="2" charset="0"/>
              </a:rPr>
              <a:t>Current-starve</a:t>
            </a:r>
            <a:r>
              <a:rPr lang="en-US" sz="2800" dirty="0">
                <a:latin typeface="Helvetica" pitchFamily="2" charset="0"/>
              </a:rPr>
              <a:t> with </a:t>
            </a:r>
            <a:r>
              <a:rPr lang="en-US" sz="2800" b="1" dirty="0">
                <a:latin typeface="Helvetica" pitchFamily="2" charset="0"/>
              </a:rPr>
              <a:t>timing capacitor</a:t>
            </a:r>
          </a:p>
        </p:txBody>
      </p:sp>
    </p:spTree>
    <p:extLst>
      <p:ext uri="{BB962C8B-B14F-4D97-AF65-F5344CB8AC3E}">
        <p14:creationId xmlns:p14="http://schemas.microsoft.com/office/powerpoint/2010/main" val="2480268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0BB94-C6C6-1EA6-98E5-0D8F0F636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86640-70CD-CCD9-E3AB-5CAC1872A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Control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ECE6A8F-D2EC-B41F-EC17-230CEBF8E6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0190" y="1519518"/>
            <a:ext cx="9511620" cy="4963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627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F9ADE-537D-0B7B-DE28-8829E3263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52C6-05A6-5EFE-1B8B-321C53490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Timing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8C27497-B169-BB64-75B6-36A0619044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9427" y="1825625"/>
            <a:ext cx="925314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1315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88CBE-CAE9-5AED-A27D-6CF13BD01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99840-B865-7179-5F34-63FE74D93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Layout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96E99D8-12FB-2AD2-4A1A-4F3C38AC77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86121"/>
            <a:ext cx="10515600" cy="323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85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1B076-8438-AE99-0EE0-431A83615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46DB2-10D1-B1F7-75C1-941CEA8D2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Result: offset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296C42-1D34-99E2-B7F3-1084F8FBC0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9529" y="1210235"/>
            <a:ext cx="9412942" cy="5647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323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357EE-6BDC-3B0A-0138-BC5840DF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6D09D-F4A3-31B5-FB13-35F709851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Result: calibration time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1687F39-7786-B408-9B5D-96CB69A3E9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89529" y="1210235"/>
            <a:ext cx="9412942" cy="56477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C14B1C-0FA5-CC23-3EC5-67B2A7D99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529" y="1210235"/>
            <a:ext cx="9412942" cy="5647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953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D87AA-D334-ABCE-44E8-705D708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Result: comparison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102571D-A3C9-0573-B91D-40D982F97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080736"/>
            <a:ext cx="10515600" cy="1841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805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58912-F3E9-7D66-C7CB-CDC06D286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4F10F-51F2-FC14-69F1-85626370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References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D59D1-E07B-BDBF-5A15-64C0C282C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[1] M. Miyahara, Y. Asada, D. Paik, and A. Matsuzawa, “A low-noise self-calibrating dynamic comparator for high-speed </a:t>
            </a:r>
            <a:r>
              <a:rPr lang="en-US" sz="1600" dirty="0" err="1"/>
              <a:t>adcs</a:t>
            </a:r>
            <a:r>
              <a:rPr lang="en-US" sz="1600" dirty="0"/>
              <a:t>,” in 2008 IEEE Asian Solid-State Circuits Conference, pp. 269–272, 2008.</a:t>
            </a:r>
          </a:p>
          <a:p>
            <a:pPr marL="0" indent="0">
              <a:buNone/>
            </a:pPr>
            <a:r>
              <a:rPr lang="en-US" sz="1600" dirty="0"/>
              <a:t>[2] Yang et </a:t>
            </a:r>
            <a:r>
              <a:rPr lang="en-US" sz="1600" dirty="0" err="1"/>
              <a:t>al.“A</a:t>
            </a:r>
            <a:r>
              <a:rPr lang="en-US" sz="1600" dirty="0"/>
              <a:t> high-speed high-precision comparator with offset calibration for sha less pipeline </a:t>
            </a:r>
            <a:r>
              <a:rPr lang="en-US" sz="1600" dirty="0" err="1"/>
              <a:t>adcs</a:t>
            </a:r>
            <a:r>
              <a:rPr lang="en-US" sz="1600" dirty="0"/>
              <a:t>,” in 2025 IEEE International Symposium on Circuits and Systems (ISCAS)</a:t>
            </a:r>
          </a:p>
          <a:p>
            <a:pPr marL="0" indent="0">
              <a:buNone/>
            </a:pPr>
            <a:r>
              <a:rPr lang="en-US" sz="1600" dirty="0"/>
              <a:t>[3] Xu et al. “A low-noise high-precision dual-mode offset calibration for high-speed dynamic comparators,” in 2025 IEEE International Symposium on Circuits and Systems (ISCAS)</a:t>
            </a:r>
          </a:p>
          <a:p>
            <a:pPr marL="0" indent="0">
              <a:buNone/>
            </a:pPr>
            <a:r>
              <a:rPr lang="en-US" sz="1600" dirty="0"/>
              <a:t>[4] Lee et al. “An effective transconductance controlled offset calibration for dynamic comparators,” in Proceedings of the IEEE International Symposium on Circuits and Systems (ISCAS)</a:t>
            </a:r>
          </a:p>
        </p:txBody>
      </p:sp>
    </p:spTree>
    <p:extLst>
      <p:ext uri="{BB962C8B-B14F-4D97-AF65-F5344CB8AC3E}">
        <p14:creationId xmlns:p14="http://schemas.microsoft.com/office/powerpoint/2010/main" val="1627621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2015-78C6-7BCB-F706-D55C1F12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44442-2B13-872A-234E-A2E4F7AAA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" pitchFamily="2" charset="0"/>
              </a:rPr>
              <a:t>Thank you!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1C457A8-644E-2314-0986-99BB5E4D77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00817" y="4332851"/>
            <a:ext cx="1748862" cy="1751057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EF999587-AB22-7BDE-6CDA-4646ED392039}"/>
              </a:ext>
            </a:extLst>
          </p:cNvPr>
          <p:cNvSpPr txBox="1">
            <a:spLocks/>
          </p:cNvSpPr>
          <p:nvPr/>
        </p:nvSpPr>
        <p:spPr>
          <a:xfrm>
            <a:off x="6096000" y="6137696"/>
            <a:ext cx="1962727" cy="8278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Helvetica" pitchFamily="2" charset="0"/>
              </a:rPr>
              <a:t>Presentation slides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8BCF6E-7F45-E289-3A48-80DACF2C9F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7669" y="4332851"/>
            <a:ext cx="1804845" cy="1804845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68C65A0C-F385-4D37-C27F-4C35753A57E1}"/>
              </a:ext>
            </a:extLst>
          </p:cNvPr>
          <p:cNvSpPr txBox="1">
            <a:spLocks/>
          </p:cNvSpPr>
          <p:nvPr/>
        </p:nvSpPr>
        <p:spPr>
          <a:xfrm>
            <a:off x="8058727" y="6316990"/>
            <a:ext cx="1962727" cy="8278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Helvetica" pitchFamily="2" charset="0"/>
              </a:rPr>
              <a:t>GitHub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FB0EAC-7831-776C-B359-ABBB0DF08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0504" y="4332851"/>
            <a:ext cx="1804845" cy="1804845"/>
          </a:xfrm>
          <a:prstGeom prst="rect">
            <a:avLst/>
          </a:prstGeom>
        </p:spPr>
      </p:pic>
      <p:sp>
        <p:nvSpPr>
          <p:cNvPr id="13" name="Subtitle 2">
            <a:extLst>
              <a:ext uri="{FF2B5EF4-FFF2-40B4-BE49-F238E27FC236}">
                <a16:creationId xmlns:a16="http://schemas.microsoft.com/office/drawing/2014/main" id="{9533156D-9C67-4FE7-2907-26ED6140F93C}"/>
              </a:ext>
            </a:extLst>
          </p:cNvPr>
          <p:cNvSpPr txBox="1">
            <a:spLocks/>
          </p:cNvSpPr>
          <p:nvPr/>
        </p:nvSpPr>
        <p:spPr>
          <a:xfrm>
            <a:off x="10051562" y="6316989"/>
            <a:ext cx="1962727" cy="8278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Helvetica" pitchFamily="2" charset="0"/>
              </a:rPr>
              <a:t>LinkedIn</a:t>
            </a:r>
          </a:p>
        </p:txBody>
      </p:sp>
    </p:spTree>
    <p:extLst>
      <p:ext uri="{BB962C8B-B14F-4D97-AF65-F5344CB8AC3E}">
        <p14:creationId xmlns:p14="http://schemas.microsoft.com/office/powerpoint/2010/main" val="133580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6683</TotalTime>
  <Words>225</Words>
  <Application>Microsoft Macintosh PowerPoint</Application>
  <PresentationFormat>Widescreen</PresentationFormat>
  <Paragraphs>29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Helvetica</vt:lpstr>
      <vt:lpstr>Office Theme</vt:lpstr>
      <vt:lpstr>A Clock-Independent, Time-Domain  Rapid Calibration Method  for  Memristor-based  Analog Computing AI Processors</vt:lpstr>
      <vt:lpstr>System</vt:lpstr>
      <vt:lpstr>Miyahara [1]</vt:lpstr>
      <vt:lpstr>Accuracy bottleneck</vt:lpstr>
      <vt:lpstr>Proposed method</vt:lpstr>
      <vt:lpstr>Calibration</vt:lpstr>
      <vt:lpstr>Pulse</vt:lpstr>
      <vt:lpstr>Control</vt:lpstr>
      <vt:lpstr>Timing</vt:lpstr>
      <vt:lpstr>Layout</vt:lpstr>
      <vt:lpstr>Result: offset</vt:lpstr>
      <vt:lpstr>Result: calibration time</vt:lpstr>
      <vt:lpstr>Result: comparison</vt:lpstr>
      <vt:lpstr>References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Junzhe Chen</dc:creator>
  <cp:lastModifiedBy>Junzhe Chen</cp:lastModifiedBy>
  <cp:revision>6</cp:revision>
  <dcterms:created xsi:type="dcterms:W3CDTF">2026-10-15T07:59:53Z</dcterms:created>
  <dcterms:modified xsi:type="dcterms:W3CDTF">2026-10-19T23:23:52Z</dcterms:modified>
</cp:coreProperties>
</file>